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914400"/>
            <a:ext cx="3200400" cy="22860"/>
          </a:xfrm>
          <a:prstGeom prst="rect">
            <a:avLst/>
          </a:prstGeom>
          <a:solidFill>
            <a:srgbClr val="4A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49640" y="1600200"/>
            <a:ext cx="2468880" cy="22860"/>
          </a:xfrm>
          <a:prstGeom prst="rect">
            <a:avLst/>
          </a:prstGeom>
          <a:solidFill>
            <a:srgbClr val="F6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43800" y="2286000"/>
            <a:ext cx="3657600" cy="22860"/>
          </a:xfrm>
          <a:prstGeom prst="rect">
            <a:avLst/>
          </a:prstGeom>
          <a:solidFill>
            <a:srgbClr val="4A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2971800"/>
            <a:ext cx="3017520" cy="22860"/>
          </a:xfrm>
          <a:prstGeom prst="rect">
            <a:avLst/>
          </a:prstGeom>
          <a:solidFill>
            <a:srgbClr val="F6B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18120" y="3657600"/>
            <a:ext cx="3474720" cy="22860"/>
          </a:xfrm>
          <a:prstGeom prst="rect">
            <a:avLst/>
          </a:prstGeom>
          <a:solidFill>
            <a:srgbClr val="4A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0" y="1280160"/>
            <a:ext cx="2286000" cy="2286000"/>
          </a:xfrm>
          <a:prstGeom prst="roundRect">
            <a:avLst/>
          </a:prstGeom>
          <a:solidFill>
            <a:srgbClr val="0F2648"/>
          </a:solidFill>
          <a:ln>
            <a:solidFill>
              <a:srgbClr val="4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4592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5F8FC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51460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ADCE5"/>
                </a:solidFill>
                <a:latin typeface="Aptos"/>
              </a:rPr>
              <a:t>ON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4360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ADCE5"/>
                </a:solidFill>
                <a:latin typeface="Aptos"/>
              </a:rPr>
              <a:t>SNAPDRAGON AI LAB • BUILD &amp; PRESENT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89888"/>
            <a:ext cx="6858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5F8FC"/>
                </a:solidFill>
                <a:latin typeface="Aptos"/>
              </a:rPr>
              <a:t>SnapLearn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6309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ADBED5"/>
                </a:solidFill>
                <a:latin typeface="Aptos"/>
              </a:rPr>
              <a:t>Privacy-first on-device AI lecture &amp; meeting copilot for Snapdragon-powered HP PCs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1874519" cy="512064"/>
          </a:xfrm>
          <a:prstGeom prst="roundRect">
            <a:avLst/>
          </a:prstGeom>
          <a:solidFill>
            <a:srgbClr val="318FFF"/>
          </a:solidFill>
          <a:ln>
            <a:solidFill>
              <a:srgbClr val="3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8745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OFFLINE-FIRST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794760"/>
            <a:ext cx="1783080" cy="512064"/>
          </a:xfrm>
          <a:prstGeom prst="roundRect">
            <a:avLst/>
          </a:prstGeom>
          <a:solidFill>
            <a:srgbClr val="1D5B56"/>
          </a:solidFill>
          <a:ln>
            <a:solidFill>
              <a:srgbClr val="1D5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3794760"/>
            <a:ext cx="1783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PRIVACY-FIRST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794760"/>
            <a:ext cx="2331720" cy="512064"/>
          </a:xfrm>
          <a:prstGeom prst="roundRect">
            <a:avLst/>
          </a:prstGeom>
          <a:solidFill>
            <a:srgbClr val="4E3B1A"/>
          </a:solidFill>
          <a:ln>
            <a:solidFill>
              <a:srgbClr val="4E3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94760"/>
            <a:ext cx="2331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SNAPDRAGON-READY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15584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Pratham Priyanshu Mohanty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447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DBED5"/>
                </a:solidFill>
                <a:latin typeface="Aptos"/>
              </a:rPr>
              <a:t>Solution Submission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669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ADCE5"/>
                </a:solidFill>
                <a:latin typeface="Aptos"/>
              </a:rPr>
              <a:t>01  PROBLEM → SOLUTION → USER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Turn every lecture or meeting into private, actionable 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20440" cy="1938528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73152" cy="1938528"/>
          </a:xfrm>
          <a:prstGeom prst="rect">
            <a:avLst/>
          </a:prstGeom>
          <a:solidFill>
            <a:srgbClr val="318FFF"/>
          </a:solidFill>
          <a:ln>
            <a:solidFill>
              <a:srgbClr val="3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1848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18FFF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47672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Cloud-first AI creates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2316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Sensitive recordings may leave the PC. Connectivity, latency and recurring inference cost can interrupt learning and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08760"/>
            <a:ext cx="3520440" cy="1938528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508760"/>
            <a:ext cx="73152" cy="1938528"/>
          </a:xfrm>
          <a:prstGeom prst="rect">
            <a:avLst/>
          </a:prstGeom>
          <a:solidFill>
            <a:srgbClr val="4ADCE5"/>
          </a:solidFill>
          <a:ln>
            <a:solidFill>
              <a:srgbClr val="4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61848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DCE5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947672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SnapLearn Edge keeps the workflow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42316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Audio → transcript → smart notes → action items → revision questions → grounded Q&amp;A, designed for Snapdragon-powered HP PCs.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508760"/>
            <a:ext cx="3520440" cy="1938528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508760"/>
            <a:ext cx="73152" cy="1938528"/>
          </a:xfrm>
          <a:prstGeom prst="rect">
            <a:avLst/>
          </a:prstGeom>
          <a:solidFill>
            <a:srgbClr val="F6BB43"/>
          </a:solidFill>
          <a:ln>
            <a:solidFill>
              <a:srgbClr val="F6B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1848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6BB43"/>
                </a:solidFill>
                <a:latin typeface="Aptos"/>
              </a:rP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47672"/>
            <a:ext cx="3200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One private productivity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Students and knowledge workers get usable outputs even when connectivity is weak—while preserving an offline-first architecture.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947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DBED5"/>
                </a:solidFill>
                <a:latin typeface="Aptos"/>
              </a:rPr>
              <a:t>USER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4528"/>
            <a:ext cx="2633472" cy="1371600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4407408"/>
            <a:ext cx="411480" cy="411480"/>
          </a:xfrm>
          <a:prstGeom prst="roundRect">
            <a:avLst/>
          </a:prstGeom>
          <a:solidFill>
            <a:srgbClr val="318FFF"/>
          </a:solidFill>
          <a:ln>
            <a:solidFill>
              <a:srgbClr val="3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40740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" y="433425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9304" y="4718304"/>
            <a:ext cx="1691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DBED5"/>
                </a:solidFill>
                <a:latin typeface="Aptos"/>
              </a:rPr>
              <a:t>Lecture / meeting audio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79" y="4224528"/>
            <a:ext cx="2633472" cy="1371600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47872" y="4407408"/>
            <a:ext cx="411480" cy="411480"/>
          </a:xfrm>
          <a:prstGeom prst="roundRect">
            <a:avLst/>
          </a:prstGeom>
          <a:solidFill>
            <a:srgbClr val="318FFF"/>
          </a:solidFill>
          <a:ln>
            <a:solidFill>
              <a:srgbClr val="3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440740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433425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TRANSCRIBE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8224" y="4718304"/>
            <a:ext cx="1691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DBED5"/>
                </a:solidFill>
                <a:latin typeface="Aptos"/>
              </a:rPr>
              <a:t>On-device Whisper ASR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224528"/>
            <a:ext cx="2633472" cy="1371600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36792" y="4407408"/>
            <a:ext cx="411480" cy="411480"/>
          </a:xfrm>
          <a:prstGeom prst="roundRect">
            <a:avLst/>
          </a:prstGeom>
          <a:solidFill>
            <a:srgbClr val="4ADCE5"/>
          </a:solidFill>
          <a:ln>
            <a:solidFill>
              <a:srgbClr val="4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440740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433425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UNDERSTAND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4718304"/>
            <a:ext cx="1691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DBED5"/>
                </a:solidFill>
                <a:latin typeface="Aptos"/>
              </a:rPr>
              <a:t>Local LLM structures notes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4224528"/>
            <a:ext cx="2633472" cy="1371600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25712" y="4407408"/>
            <a:ext cx="411480" cy="411480"/>
          </a:xfrm>
          <a:prstGeom prst="roundRect">
            <a:avLst/>
          </a:prstGeom>
          <a:solidFill>
            <a:srgbClr val="4ADCE5"/>
          </a:solidFill>
          <a:ln>
            <a:solidFill>
              <a:srgbClr val="4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440740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6064" y="4334256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4718304"/>
            <a:ext cx="1691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DBED5"/>
                </a:solidFill>
                <a:latin typeface="Aptos"/>
              </a:rPr>
              <a:t>Ask, revise, 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989320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DCF9A"/>
                </a:solidFill>
                <a:latin typeface="Aptos"/>
              </a:rPr>
              <a:t>Innovation: not another cloud note-taker—an edge-AI knowledge companion designed around local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ADCE5"/>
                </a:solidFill>
                <a:latin typeface="Aptos"/>
              </a:rPr>
              <a:t>02  TECHNICAL IMPLEMENTATION &amp; CHALLENGE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A modular Snapdragon deployment path with honest prototype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DBED5"/>
                </a:solidFill>
                <a:latin typeface="Aptos"/>
              </a:rPr>
              <a:t>TARGET AI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084831" cy="1161288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66543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18FFF"/>
                </a:solidFill>
                <a:latin typeface="Aptos"/>
              </a:rPr>
              <a:t>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0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Upload /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4" y="224028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ADBED5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901952"/>
            <a:ext cx="2084831" cy="1161288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066543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ADCE5"/>
                </a:solidFill>
                <a:latin typeface="Aptos"/>
              </a:rPr>
              <a:t>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377440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Whisper-Small-Quantized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4336" y="224028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ADBED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3" y="1901952"/>
            <a:ext cx="2084831" cy="1161288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5" y="2066543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4DCF9A"/>
                </a:solidFill>
                <a:latin typeface="Aptos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5" y="2377440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Chunk +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24028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ADBED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901952"/>
            <a:ext cx="2084831" cy="1161288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066543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6BB43"/>
                </a:solidFill>
                <a:latin typeface="Aptos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377440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Llama 3.2 3B Instruct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4028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ADBED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1901952"/>
            <a:ext cx="2084831" cy="1161288"/>
          </a:xfrm>
          <a:prstGeom prst="roundRect">
            <a:avLst/>
          </a:prstGeom>
          <a:solidFill>
            <a:srgbClr val="0C1A34"/>
          </a:solidFill>
          <a:ln>
            <a:solidFill>
              <a:srgbClr val="23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066543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18FFF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77440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Notes • Q&amp;A •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429000"/>
            <a:ext cx="2624328" cy="1920240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429000"/>
            <a:ext cx="73152" cy="1920240"/>
          </a:xfrm>
          <a:prstGeom prst="rect">
            <a:avLst/>
          </a:prstGeom>
          <a:solidFill>
            <a:srgbClr val="318FFF"/>
          </a:solidFill>
          <a:ln>
            <a:solidFill>
              <a:srgbClr val="3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538728"/>
            <a:ext cx="23042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18FFF"/>
                </a:solidFill>
                <a:latin typeface="Aptos"/>
              </a:rPr>
              <a:t>TECHNICAL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867912"/>
            <a:ext cx="23042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NPU-oriented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343400"/>
            <a:ext cx="2304288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Model adapters are separated from the Streamlit UI. Qualcomm AI Hub models can be exported/compiled for the target runtime and device.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3429000"/>
            <a:ext cx="2624328" cy="1920240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01568" y="3429000"/>
            <a:ext cx="73152" cy="1920240"/>
          </a:xfrm>
          <a:prstGeom prst="rect">
            <a:avLst/>
          </a:prstGeom>
          <a:solidFill>
            <a:srgbClr val="4ADCE5"/>
          </a:solidFill>
          <a:ln>
            <a:solidFill>
              <a:srgbClr val="4A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2736" y="3538728"/>
            <a:ext cx="23042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ADCE5"/>
                </a:solidFill>
                <a:latin typeface="Aptos"/>
              </a:rPr>
              <a:t>INNOVATION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3867912"/>
            <a:ext cx="23042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Private edge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2736" y="4343400"/>
            <a:ext cx="2304288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Local speech + local generation reduces cloud dependency and keeps sensitive classroom or meeting context on the PC.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429000"/>
            <a:ext cx="2624328" cy="1920240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8776" y="3429000"/>
            <a:ext cx="73152" cy="1920240"/>
          </a:xfrm>
          <a:prstGeom prst="rect">
            <a:avLst/>
          </a:prstGeom>
          <a:solidFill>
            <a:srgbClr val="4DCF9A"/>
          </a:solidFill>
          <a:ln>
            <a:solidFill>
              <a:srgbClr val="4D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538728"/>
            <a:ext cx="23042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DCF9A"/>
                </a:solidFill>
                <a:latin typeface="Aptos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3867912"/>
            <a:ext cx="23042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Evaluator-friendly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343400"/>
            <a:ext cx="2304288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Simple Windows/Python setup, model folders kept external, and a documented Snapdragon integration + benchmarking path.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5984" y="3429000"/>
            <a:ext cx="2578608" cy="1920240"/>
          </a:xfrm>
          <a:prstGeom prst="roundRect">
            <a:avLst/>
          </a:prstGeom>
          <a:solidFill>
            <a:srgbClr val="0C1A34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15984" y="3429000"/>
            <a:ext cx="73152" cy="1920240"/>
          </a:xfrm>
          <a:prstGeom prst="rect">
            <a:avLst/>
          </a:prstGeom>
          <a:solidFill>
            <a:srgbClr val="F6BB43"/>
          </a:solidFill>
          <a:ln>
            <a:solidFill>
              <a:srgbClr val="F6B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3538728"/>
            <a:ext cx="22585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6BB43"/>
                </a:solidFill>
                <a:latin typeface="Aptos"/>
              </a:rPr>
              <a:t>DOCUMENTATION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3867912"/>
            <a:ext cx="22585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Submission-ready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343400"/>
            <a:ext cx="2258568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DBED5"/>
                </a:solidFill>
                <a:latin typeface="Aptos"/>
              </a:rPr>
              <a:t>README, architecture, model plan, deployment guide, challenge mapping, project PDF and pitch assets are included.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715000"/>
            <a:ext cx="11018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ADBED5"/>
                </a:solidFill>
                <a:latin typeface="Aptos"/>
              </a:rPr>
              <a:t>Current status: functional UI + adapter scaffold. Hardware-specific NPU inference and performance numbers must be validated on the target HP Snapdragon PC before claiming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